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d489074c4a44f7" /><Relationship Type="http://schemas.openxmlformats.org/officeDocument/2006/relationships/extended-properties" Target="/docProps/app.xml" Id="R6559ce85b47545a0" /><Relationship Type="http://schemas.openxmlformats.org/officeDocument/2006/relationships/officeDocument" Target="/ppt/presentation.xml" Id="R5f7694daebb7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23e77b8c44319"/>
  </p:sldMasterIdLst>
  <p:notesMasterIdLst>
    <p:notesMasterId xmlns:r="http://schemas.openxmlformats.org/officeDocument/2006/relationships" r:id="R2a38fee5ec2f4e0d"/>
  </p:notesMasterIdLst>
  <p:sldIdLst>
    <p:sldId xmlns:r="http://schemas.openxmlformats.org/officeDocument/2006/relationships" id="256" r:id="Rb9c658ee432a400b"/>
    <p:sldId xmlns:r="http://schemas.openxmlformats.org/officeDocument/2006/relationships" id="257" r:id="R757084399b2f439e"/>
    <p:sldId xmlns:r="http://schemas.openxmlformats.org/officeDocument/2006/relationships" id="258" r:id="R52ce28f962c0456b"/>
    <p:sldId xmlns:r="http://schemas.openxmlformats.org/officeDocument/2006/relationships" id="259" r:id="Rc60daa99cbc1497a"/>
    <p:sldId xmlns:r="http://schemas.openxmlformats.org/officeDocument/2006/relationships" id="260" r:id="R5cfec8e8b9d341fe"/>
    <p:sldId xmlns:r="http://schemas.openxmlformats.org/officeDocument/2006/relationships" id="261" r:id="Re9cfc8caf40f4682"/>
    <p:sldId xmlns:r="http://schemas.openxmlformats.org/officeDocument/2006/relationships" id="262" r:id="R8e7fb32567204736"/>
    <p:sldId xmlns:r="http://schemas.openxmlformats.org/officeDocument/2006/relationships" id="263" r:id="Re39f36a6126d4c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455ae64a4455c" /><Relationship Type="http://schemas.openxmlformats.org/officeDocument/2006/relationships/slideMaster" Target="/ppt/slideMasters/slideMaster1.xml" Id="Rb9923e77b8c44319" /><Relationship Type="http://schemas.openxmlformats.org/officeDocument/2006/relationships/notesMaster" Target="/ppt/notesMasters/notesMaster1.xml" Id="R2a38fee5ec2f4e0d" /><Relationship Type="http://schemas.openxmlformats.org/officeDocument/2006/relationships/presProps" Target="/ppt/presProps.xml" Id="R06c174d0bc5148ce" /><Relationship Type="http://schemas.openxmlformats.org/officeDocument/2006/relationships/tableStyles" Target="/ppt/tableStyles.xml" Id="Rc86b56fb52ce4a8e" /><Relationship Type="http://schemas.openxmlformats.org/officeDocument/2006/relationships/slide" Target="/ppt/slides/slide1.xml" Id="Rb9c658ee432a400b" /><Relationship Type="http://schemas.openxmlformats.org/officeDocument/2006/relationships/slide" Target="/ppt/slides/slide2.xml" Id="R757084399b2f439e" /><Relationship Type="http://schemas.openxmlformats.org/officeDocument/2006/relationships/slide" Target="/ppt/slides/slide3.xml" Id="R52ce28f962c0456b" /><Relationship Type="http://schemas.openxmlformats.org/officeDocument/2006/relationships/slide" Target="/ppt/slides/slide4.xml" Id="Rc60daa99cbc1497a" /><Relationship Type="http://schemas.openxmlformats.org/officeDocument/2006/relationships/slide" Target="/ppt/slides/slide5.xml" Id="R5cfec8e8b9d341fe" /><Relationship Type="http://schemas.openxmlformats.org/officeDocument/2006/relationships/slide" Target="/ppt/slides/slide6.xml" Id="Re9cfc8caf40f4682" /><Relationship Type="http://schemas.openxmlformats.org/officeDocument/2006/relationships/slide" Target="/ppt/slides/slide7.xml" Id="R8e7fb32567204736" /><Relationship Type="http://schemas.openxmlformats.org/officeDocument/2006/relationships/slide" Target="/ppt/slides/slide8.xml" Id="Re39f36a6126d4c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4342cc415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117abe0e14be0" /><Relationship Type="http://schemas.openxmlformats.org/officeDocument/2006/relationships/notesMaster" Target="/ppt/notesMasters/notesMaster1.xml" Id="R4126ae46a483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83c9d22874af0" /><Relationship Type="http://schemas.openxmlformats.org/officeDocument/2006/relationships/notesMaster" Target="/ppt/notesMasters/notesMaster1.xml" Id="R2d750fcbf6f5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840100fe464510" /><Relationship Type="http://schemas.openxmlformats.org/officeDocument/2006/relationships/notesMaster" Target="/ppt/notesMasters/notesMaster1.xml" Id="R2d9d4326b560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c669f93c72405e" /><Relationship Type="http://schemas.openxmlformats.org/officeDocument/2006/relationships/notesMaster" Target="/ppt/notesMasters/notesMaster1.xml" Id="Re14dba75dc3c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7e915b78574c70" /><Relationship Type="http://schemas.openxmlformats.org/officeDocument/2006/relationships/notesMaster" Target="/ppt/notesMasters/notesMaster1.xml" Id="Rd333030b8669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f789a11d314f51" /><Relationship Type="http://schemas.openxmlformats.org/officeDocument/2006/relationships/notesMaster" Target="/ppt/notesMasters/notesMaster1.xml" Id="Rc46fc7e623bf4a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8e983e1c8a4fd2" /><Relationship Type="http://schemas.openxmlformats.org/officeDocument/2006/relationships/notesMaster" Target="/ppt/notesMasters/notesMaster1.xml" Id="R1935bd2d68614d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1c7a1b1115462c" /><Relationship Type="http://schemas.openxmlformats.org/officeDocument/2006/relationships/notesMaster" Target="/ppt/notesMasters/notesMaster1.xml" Id="R9ae658d9e619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Fuentes internas: README.md y arquitectura implementada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 interna: README.md — objetivo y alcance del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Fuentes internas: onco_bridge_c1/onco_bridge/pipeline.py y semantic.py.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Fuentes internas: best_hyperparameters.json; pipeline.py; semantic.py;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Fuentes internas: clinical_cases/case_001, case_031 y case_032, con sus expected_output.json.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 interna: onco_bridge_c1/app.py y onco_bridge/clinical_assistant.py.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Fuentes internas: README.md y artifacts/evaluation_report_test.json. Datos sintéticos; no representan desempeño clínico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construida a partir del proyecto OncoBridge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e33240e4e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2f18eab8b45a8" /><Relationship Type="http://schemas.openxmlformats.org/officeDocument/2006/relationships/slideLayout" Target="/ppt/slideLayouts/slideLayout1.xml" Id="R381c8f34e41c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c8f34e41c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54d287f76418d" /><Relationship Type="http://schemas.openxmlformats.org/officeDocument/2006/relationships/notesSlide" Target="/ppt/notesSlides/notesSlide1.xml" Id="R751eaff9ca18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0bb3942f74ad1" /><Relationship Type="http://schemas.openxmlformats.org/officeDocument/2006/relationships/notesSlide" Target="/ppt/notesSlides/notesSlide2.xml" Id="Rcff6f1fb46ae4d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629a2410d4b02" /><Relationship Type="http://schemas.openxmlformats.org/officeDocument/2006/relationships/notesSlide" Target="/ppt/notesSlides/notesSlide3.xml" Id="Rb19d16d32cfe43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4e9b03f6b4a53" /><Relationship Type="http://schemas.openxmlformats.org/officeDocument/2006/relationships/notesSlide" Target="/ppt/notesSlides/notesSlide4.xml" Id="R99fbf1054b0c4b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59a063f04ff7" /><Relationship Type="http://schemas.openxmlformats.org/officeDocument/2006/relationships/notesSlide" Target="/ppt/notesSlides/notesSlide5.xml" Id="R770ed37059d5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aea5ad7b54321" /><Relationship Type="http://schemas.openxmlformats.org/officeDocument/2006/relationships/notesSlide" Target="/ppt/notesSlides/notesSlide6.xml" Id="R785bcaa5731c4f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2d4ab555a44fb" /><Relationship Type="http://schemas.openxmlformats.org/officeDocument/2006/relationships/notesSlide" Target="/ppt/notesSlides/notesSlide7.xml" Id="R6a98bc136ea946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1f100ca89468b" /><Relationship Type="http://schemas.openxmlformats.org/officeDocument/2006/relationships/notesSlide" Target="/ppt/notesSlides/notesSlide8.xml" Id="R85a06385e6d9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90CCF-3AA8-4DB9-A96F-91C53DF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23DD8-6714-4301-B1A4-E1AF089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9537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A"/>
          </a:solidFill>
          <a:ln xmlns:a="http://schemas.openxmlformats.org/drawingml/2006/main" w="0">
            <a:solidFill>
              <a:srgbClr val="FDEC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65AD9-7B51-4813-9519-64B67E07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0">
            <a:solidFill>
              <a:srgbClr val="EAF4F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B4571-1459-4292-906D-D59E2BD6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2635F"/>
                </a:solidFill>
              </a:defRPr>
            </a:pPr>
            <a:r>
              <a:rPr sz="3900" b="1">
                <a:solidFill>
                  <a:srgbClr val="F2635F"/>
                </a:solidFill>
              </a:rPr>
              <a:t>ONCO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6EC1A-EB0B-4AA2-852F-0340792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811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3B5D"/>
                </a:solidFill>
              </a:defRPr>
            </a:pPr>
            <a:r>
              <a:rPr sz="3900" b="1">
                <a:solidFill>
                  <a:srgbClr val="123B5D"/>
                </a:solidFill>
              </a:rPr>
              <a:t>BRIDGE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0C237-CB6E-4431-AB51-E9827A0A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24D"/>
                </a:solidFill>
              </a:defRPr>
            </a:pPr>
            <a:r>
              <a:rPr sz="2100" b="0">
                <a:solidFill>
                  <a:srgbClr val="17324D"/>
                </a:solidFill>
              </a:rPr>
              <a:t>Una puente clínico entre Oncología y Radiología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AB28A-D4CD-474A-92F2-C93553D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Apoyo a la decisión con RAG híbrido y guía visual radiológica sintética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46BEB-2D4E-4CFB-9918-29140961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C1674-857C-42F6-812B-89D5EEA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TP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61D37-F4E7-44EE-B8B3-99D2947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5D"/>
                </a:solidFill>
              </a:defRPr>
            </a:pPr>
            <a:r>
              <a:rPr sz="1350" b="1">
                <a:solidFill>
                  <a:srgbClr val="123B5D"/>
                </a:solidFill>
              </a:rPr>
              <a:t>IA Generativa para Datos Biomédicos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06AD1-C2E0-4320-AA12-A10FF99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Matías Mogetta · Bianca Nader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5796C-FCAD-4548-BFAF-65CFD105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1A37D-9160-4AD7-8649-E156998C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695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35F"/>
                </a:solidFill>
              </a:defRPr>
            </a:pPr>
            <a:r>
              <a:rPr sz="1050" b="1">
                <a:solidFill>
                  <a:srgbClr val="F2635F"/>
                </a:solidFill>
              </a:rPr>
              <a:t>ONCOLOGÍA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DDA57-A7F3-4655-AA59-6C04068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C6EA4"/>
                </a:solidFill>
              </a:defRPr>
            </a:pPr>
            <a:r>
              <a:rPr sz="1050" b="1">
                <a:solidFill>
                  <a:srgbClr val="1C6EA4"/>
                </a:solidFill>
              </a:rPr>
              <a:t>RADIOLOGÍA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BDAE8-D69F-41AB-A989-1E7266A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622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263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9A21C-DB8D-444C-B865-74DE5761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62200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1C6E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901B6-EB06-410B-8697-84FDB23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43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635F"/>
                </a:solidFill>
              </a:defRPr>
            </a:pPr>
            <a:r>
              <a:rPr sz="1725" b="1">
                <a:solidFill>
                  <a:srgbClr val="F2635F"/>
                </a:solidFill>
              </a:rPr>
              <a:t>C1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D735D-265A-4517-8747-343D2F05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43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C6EA4"/>
                </a:solidFill>
              </a:defRPr>
            </a:pPr>
            <a:r>
              <a:rPr sz="1725" b="1">
                <a:solidFill>
                  <a:srgbClr val="1C6EA4"/>
                </a:solidFill>
              </a:rPr>
              <a:t>C2</a:t>
            </a:r>
          </a:p>
        </p:txBody>
      </p:sp>
      <p:cxnSp>
        <p:nvCxnSpPr>
          <p:cNvPr id="3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34425" y="27051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8AB81-E71E-49B5-B8FB-1EC8391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decisión clínica → guía de imagen</a:t>
            </a:r>
          </a:p>
        </p:txBody>
      </p:sp>
    </p:spTree>
    <p:extLst>
      <p:ext uri="{BB962C8B-B14F-4D97-AF65-F5344CB8AC3E}">
        <p14:creationId xmlns:p14="http://schemas.microsoft.com/office/powerpoint/2010/main" val="1950921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9CBB7-19C7-485F-ABEC-B7B4853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LA NECESIDAD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22884-C351-4476-A9E0-24B45344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OncoBridge AI conecta la sospecha clínica con la lectura radiológica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53834-7E12-498B-9189-3AAA81B0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El objetivo es entregar a cada profesional la información que necesita para decidir y actuar.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B2A57-E1BF-4825-AE1D-92DAB5E4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F308E-A9D4-4AFB-BAC1-0AB4B54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8C4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8F25F-5656-46D5-901C-D86B866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7E3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1C358-F8E1-46B0-B477-0A5EE95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23850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BCE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740F4-233F-4AE1-9969-7D48D465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95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35F"/>
                </a:solidFill>
              </a:defRPr>
            </a:pPr>
            <a:r>
              <a:rPr sz="1050" b="1">
                <a:solidFill>
                  <a:srgbClr val="F2635F"/>
                </a:solidFill>
              </a:rPr>
              <a:t>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A066-F1A2-4C8B-A309-324CD86D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Historia clínica y sospecha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AD903-1053-471C-9C7A-F87BCE59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El oncólogo debe sintetizar múltiples señales y decidir si corresponde derivar.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45109-9EDF-4A5A-8644-E44A1A2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95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ONCOBRIDGE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FDCC6-B20D-4F94-B3D8-085BDB0E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67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Análisis clínico explicable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BAD90-2D98-4883-A6DA-6FF1A52F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Recupera hipótesis, evidencia, urgencia y recomendación de imágenes.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06627-2DEA-4827-9B34-CBD2449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955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8A6E"/>
                </a:solidFill>
              </a:defRPr>
            </a:pPr>
            <a:r>
              <a:rPr sz="1050" b="1">
                <a:solidFill>
                  <a:srgbClr val="2B8A6E"/>
                </a:solidFill>
              </a:rPr>
              <a:t>DESPUÉS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5203A-2503-4840-9FE9-E4B26DBF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67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Guía radiológica accionable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7FC60-DE4E-439E-B8F5-B398B797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909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El radiólogo recibe la región, los hallazgos esperados y una referencia sintética.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43350" y="357663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35F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15250" y="357663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18D3D-E34B-4851-83D3-BE8FA03B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EDA25-878C-4042-A6B0-8272727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1975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E07B33-FA32-4596-AF0D-459FCD4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ARQUITECTURA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212EA-E4C7-424B-BF9C-EF7DDE0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De la historia clínica a una guía visual para radiología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87ED7-24E2-409E-8F7C-046F00B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C1 analiza y prioriza; C2 se activa únicamente cuando existe derivación a imágenes.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75690-78D5-4495-8F08-B58AFEB7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74098-6894-4359-AEB1-4C2990B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428750" cy="23336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10852-08B6-4168-BAA6-BB56F561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104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HISTORIA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CLÍNICA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54FD4-20B0-43A5-80DE-58212B3D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7E8F4"/>
                </a:solidFill>
              </a:defRPr>
            </a:pPr>
            <a:r>
              <a:rPr sz="1125" b="0">
                <a:solidFill>
                  <a:srgbClr val="D7E8F4"/>
                </a:solidFill>
              </a:rPr>
              <a:t>síntomas</a:t>
            </a:r>
          </a:p>
          <a:p xmlns:a="http://schemas.openxmlformats.org/drawingml/2006/main">
            <a:pPr algn="ctr">
              <a:defRPr sz="1125" b="0">
                <a:solidFill>
                  <a:srgbClr val="D7E8F4"/>
                </a:solidFill>
              </a:defRPr>
            </a:pPr>
            <a:r>
              <a:rPr sz="1125" b="0">
                <a:solidFill>
                  <a:srgbClr val="D7E8F4"/>
                </a:solidFill>
              </a:rPr>
              <a:t>antecedentes</a:t>
            </a:r>
          </a:p>
          <a:p xmlns:a="http://schemas.openxmlformats.org/drawingml/2006/main">
            <a:pPr algn="ctr">
              <a:defRPr sz="1125" b="0">
                <a:solidFill>
                  <a:srgbClr val="D7E8F4"/>
                </a:solidFill>
              </a:defRPr>
            </a:pPr>
            <a:r>
              <a:rPr sz="1125" b="0">
                <a:solidFill>
                  <a:srgbClr val="D7E8F4"/>
                </a:solidFill>
              </a:rPr>
              <a:t>laboratorios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C4181-98B5-4C6A-A87B-66D743A8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57375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AA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E44BB-A674-4BE7-AEC4-9C176A4D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57375"/>
            <a:ext cx="495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FB4BA-8C2B-4BB1-B3D7-38D643B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621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COMPONENTE 1 · ANÁLISIS CLÍNICO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E2801-EEDF-4DBA-A7AF-10E922C5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71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6C8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BE16B-56B2-497C-9E7D-0922130E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71750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7E3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AFEF4-6963-49FB-A980-0931C9B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7E3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C4F2F-0D37-403C-87D9-F769EF49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717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BCE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9818F-7F6B-4A97-B155-3834CC2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1314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F2D5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5FC3F-AE85-4142-9208-54368465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432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Normalización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clínica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FA0BE-7A1C-4FF8-9498-840FEDDD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RAG textual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+ órgano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82F6D-19EF-4193-9284-3468D6C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86200"/>
            <a:ext cx="1200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RAG semántico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BGE-M3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03E18-805A-40E4-92B1-94E1237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0530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C6EA4"/>
                </a:solidFill>
              </a:defRPr>
            </a:pPr>
            <a:r>
              <a:rPr sz="825" b="1">
                <a:solidFill>
                  <a:srgbClr val="1C6EA4"/>
                </a:solidFill>
              </a:rPr>
              <a:t>30 GT cacheados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BD9CB-7366-4433-BD6F-17BBB56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Fusión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híbrida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7017F-0AE5-44DB-91B0-5CE64715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95725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2° score</a:t>
            </a:r>
          </a:p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clínico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E8D14-1833-4DD9-BBDD-DC00810A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05175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B8A6E"/>
                </a:solidFill>
              </a:defRPr>
            </a:pPr>
            <a:r>
              <a:rPr sz="900" b="1">
                <a:solidFill>
                  <a:srgbClr val="2B8A6E"/>
                </a:solidFill>
              </a:rPr>
              <a:t>top 5 GT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F678C-CDFB-41ED-92C4-5AE00186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96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síntomas · riesgos</a:t>
            </a:r>
          </a:p>
          <a:p xmlns:a="http://schemas.openxmlformats.org/drawingml/2006/main">
            <a:pPr algn="ctr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red flags · biomarcadores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37471-7611-42DF-9761-6E17B9F0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43125"/>
            <a:ext cx="2381250" cy="2857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B74B7-DC4A-4B86-BF08-6497C6AE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4312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D"/>
          </a:solidFill>
          <a:ln xmlns:a="http://schemas.openxmlformats.org/drawingml/2006/main" w="0">
            <a:solidFill>
              <a:srgbClr val="123B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340D2-B2E9-454A-9A99-0458680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COMPONENTE 2 · GUÍA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57BA5-EFF6-4CAA-B239-7514448E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19400"/>
            <a:ext cx="1885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7E3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A6E4B-C1FC-4C67-98BD-38EF083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19500"/>
            <a:ext cx="1885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6C8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51CC8-EA44-4F49-AC3D-F59EAFE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19600"/>
            <a:ext cx="1885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BCE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1B61E-1CF2-45F9-A466-AC7B1082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908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Derivar a imagen?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A75258-0CBB-479E-A1E6-D6E6F72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7909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Prompt positivo + negativo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EF236-5760-47B5-983B-B52894CB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5243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</a:defRPr>
            </a:pPr>
            <a:r>
              <a:rPr sz="1050" b="1">
                <a:solidFill>
                  <a:srgbClr val="17324D"/>
                </a:solidFill>
              </a:rPr>
              <a:t>Referencia visual sintética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3985E6-ADB5-469B-B11B-26F56558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81250"/>
            <a:ext cx="1524000" cy="2333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A0C35-DBF5-4F81-9DAA-7F88D364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28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81D8C2-9737-4639-B4E5-CDC0E4A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143250"/>
            <a:ext cx="1200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ONCÓLOGO</a:t>
            </a:r>
          </a:p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Resumen · hipótesis</a:t>
            </a:r>
          </a:p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urgencia · derivación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E67D8-66BC-4036-A822-1E28768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981450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RADIÓLOGO</a:t>
            </a:r>
          </a:p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Guía · regiones</a:t>
            </a:r>
          </a:p>
          <a:p xmlns:a="http://schemas.openxmlformats.org/drawingml/2006/main">
            <a:pPr algn="ctr">
              <a:defRPr sz="1050" b="0">
                <a:solidFill>
                  <a:srgbClr val="D7E8F4"/>
                </a:solidFill>
              </a:defRPr>
            </a:pPr>
            <a:r>
              <a:rPr sz="1050" b="0">
                <a:solidFill>
                  <a:srgbClr val="D7E8F4"/>
                </a:solidFill>
              </a:rPr>
              <a:t>referencia visual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885950" y="2962275"/>
            <a:ext cx="571500" cy="5857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35F"/>
            </a:solidFill>
            <a:prstDash val="solid"/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24250" y="29622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524250" y="2962275"/>
            <a:ext cx="3048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57800" y="2962275"/>
            <a:ext cx="3143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57800" y="4105275"/>
            <a:ext cx="3143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29350" y="34480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886575" y="3571875"/>
            <a:ext cx="6286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35F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24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9896475" y="3548063"/>
            <a:ext cx="295275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CA7092-96E5-47AA-9122-E5BA3BF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113B14-F3F5-4523-A56E-23211ED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55319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043E7-FBBC-4D8B-A436-71561FE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DECISIONES DE DISEÑO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DEC81-E44B-4012-B084-974FC67D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C1 prioriza sensibilidad, especificidad anatómica y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FEE49-3AEF-48FC-B900-2BC04F9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La arquitectura no busca reemplazar al profesional: organiza la evidencia disponible para apoyar la decisión.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43B56-382F-43B1-A26D-32E7DD3B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82CA-55E0-4004-9652-D24CDBE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99D94-2A23-4454-9EC4-24A0DF30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19112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8FCFC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78276-E897-4E08-993C-49E3B88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35F"/>
          </a:solidFill>
          <a:ln xmlns:a="http://schemas.openxmlformats.org/drawingml/2006/main" w="9525">
            <a:solidFill>
              <a:srgbClr val="F263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B4E9C-D412-473D-B766-056E1DA2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COMPONENTE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88BC0-9E0C-43F4-937F-43F8FAF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RAG híbrido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91A1-FD35-4737-A679-3DC5A578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Léxico con mayor peso: preserva la especificidad anatómica. Semántico: reconoce significado clínico aunque cambien las palabras.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BDD0C-A1D7-4EF6-9FB7-5E9A608C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Sensibilidad mínima del 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7A825-981A-4783-B394-7AABA64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En salud se prioriza no perder casos positivos: es preferible derivar de más antes que omitir una sospecha relevante.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FAC77-B847-4A77-BEDC-8EF26E0C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Embeddings cacheados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AEF65-1411-4C86-A38F-C8659CBF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Los 30 GT se codifican una vez; por consulta solo se calcula el embedding del paciente nuevo.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203C2-0EAF-481A-9167-F5314CDF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2266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395F1-07DD-4842-8D6E-2A01AD6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5742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SCORING Y COMPONENTE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10324-E9D5-40AB-9379-958DA65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2° score clínico integrador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D278D-7E44-4EC6-B164-54A1196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5752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Repondera los candidatos según síntomas, hallazgos, riesgos, red flags y biomarcadores.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B308B-1B08-4484-A841-085E7F9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3° score: derivación a imagen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82044-F50E-45B9-A246-47556F8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Combina probabilidad de match, probabilidad base y urgencia para decidir derivación o seguimiento.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99154-2C96-4DD3-BF59-200E5189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Guía visual con prompts contrastivos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DCFD7-ED56-4EBB-988C-ECABBC0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816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Stable Diffusion v1.5 local para el PoC. No está entrenado específicamente con imágenes médicas: es una limitación declarada.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B71E2-1BC8-4B0A-82CE-BD914874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C2FD3-1E08-4A08-A587-56D9554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3512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43480-1460-41A5-8207-B62A711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DEMO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F7CF0-43F4-49B6-9A81-D6B14E4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Tres historias, dos decisiones posibles y una guía radiológica cuando corresponde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DF9F1-88E9-4AE6-B863-056ABC35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Los casos 031 y 032 muestran que C2 no genera imágenes cuando no hay una hipótesis clínica respaldada.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B8D94-07CC-4EAD-BFBF-E9114D08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C361B-D6F3-4FFD-B2E1-203D85E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3238500" cy="347662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620DD-28D7-4BFD-89E0-CFF3F22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35F"/>
          </a:solidFill>
          <a:ln xmlns:a="http://schemas.openxmlformats.org/drawingml/2006/main" w="9525">
            <a:solidFill>
              <a:srgbClr val="F263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E4B71-F56E-43CA-9D72-FC3C8F71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CASE 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89181-65C5-4882-86DA-F76B4A9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PAT-00101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993A5-1F0A-4782-8DD9-91738157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Sospecha renal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72F18-0DED-4844-9FA1-B04E0D93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Hematuria · dolor lumbar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masa palpable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102CF-8585-4E5F-A619-4248AB85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4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DEC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4F701-93EC-4D1D-B9CB-8352C63F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635F"/>
                </a:solidFill>
              </a:defRPr>
            </a:pPr>
            <a:r>
              <a:rPr sz="1350" b="1">
                <a:solidFill>
                  <a:srgbClr val="F2635F"/>
                </a:solidFill>
              </a:rPr>
              <a:t>Derivar a imagen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B42E1-B4B8-4272-8E02-5892DC4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Urgencia alta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GT-RENAL-001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Guía visual generada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7766F-10DE-48B9-BFE6-3B55481D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47875"/>
            <a:ext cx="3238500" cy="347662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D24D9-FCDB-4AF0-AA6B-010759FB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2F5C3-4AA0-42B2-919E-F73C2405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CASE 031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F23BF-19D1-4836-B8D8-1EB59B81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PAT-00201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F7DF3-362C-415A-8567-68F6D6D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09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Control sin síntomas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B9023-074E-4450-B732-94BFFA49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Control ginecológico anual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sin síntomas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48963-ED1E-4E11-9E11-DFFEA1D4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274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5175D-9C51-4FCF-9D2A-B35FF0C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52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8A6E"/>
                </a:solidFill>
              </a:defRPr>
            </a:pPr>
            <a:r>
              <a:rPr sz="1350" b="1">
                <a:solidFill>
                  <a:srgbClr val="2B8A6E"/>
                </a:solidFill>
              </a:rPr>
              <a:t>No derivar a imagen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46186-DD02-40C1-8509-9E0E2345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815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Urgencia ninguna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Sin hipótesis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Sin guía radiológica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5B015-213A-48F6-B855-F82FC2A8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3238500" cy="3476625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DB742-7181-4238-8147-8042936B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A6E"/>
          </a:solidFill>
          <a:ln xmlns:a="http://schemas.openxmlformats.org/drawingml/2006/main" w="9525">
            <a:solidFill>
              <a:srgbClr val="2B8A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8A72B-7384-4002-9332-7A09C4B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CASE 032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A15FB-BACF-4026-B57F-7A94F3F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PAT-00202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8DA76-A1A7-4ED9-8639-CD2D76A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Control sin síntomas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6CB653-434D-4D50-8E7A-B39AC051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Control laboral anual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sin síntomas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E8192E-E18F-488E-A8AE-8EEC4620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743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9525">
            <a:solidFill>
              <a:srgbClr val="E9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21BC11-05A8-434F-9C48-DAA6F08B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8A6E"/>
                </a:solidFill>
              </a:defRPr>
            </a:pPr>
            <a:r>
              <a:rPr sz="1350" b="1">
                <a:solidFill>
                  <a:srgbClr val="2B8A6E"/>
                </a:solidFill>
              </a:rPr>
              <a:t>No derivar a imagen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9E151-65FC-4536-B5DA-02588E10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815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Urgencia ninguna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Sin hipótesis</a:t>
            </a:r>
          </a:p>
          <a:p xmlns:a="http://schemas.openxmlformats.org/drawingml/2006/main">
            <a:pPr algn="ctr">
              <a:defRPr sz="1200" b="0">
                <a:solidFill>
                  <a:srgbClr val="17324D"/>
                </a:solidFill>
              </a:defRPr>
            </a:pPr>
            <a:r>
              <a:rPr sz="1200" b="0">
                <a:solidFill>
                  <a:srgbClr val="17324D"/>
                </a:solidFill>
              </a:rPr>
              <a:t>Sin guía radiológica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75B791-1AC3-401B-80FE-89DEDA54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80762-6E6D-4C2B-B4EA-5C03003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4155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F15A9-4E8D-4816-89EF-1A01E0E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DISEÑO DE LA INTERFAZ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D6588-9A42-4DA1-B2B1-6B280649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La información clínica se muestra de forma diferente según la tarea profesional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8F02A-50D7-4B2A-86AD-4B2C48F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La UI elimina opciones técnicas y prioriza seguridad, claridad y acción clínica.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4F59F-0678-41DE-A3B8-413A1BE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EAD3C-E514-41E0-A9F6-8783B46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1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65D81-D733-4B1A-AF12-DD338B20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3336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2AE37-4A90-4318-A7DF-4914E6D4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288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DECEA"/>
          </a:solidFill>
          <a:ln xmlns:a="http://schemas.openxmlformats.org/drawingml/2006/main" w="9525">
            <a:solidFill>
              <a:srgbClr val="F6C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C0737-09EC-4767-AAA7-6ADB047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7E3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2F899-78A7-4235-ABCD-151A61B9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9557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B5D"/>
                </a:solidFill>
              </a:defRPr>
            </a:pPr>
            <a:r>
              <a:rPr sz="1275" b="1">
                <a:solidFill>
                  <a:srgbClr val="123B5D"/>
                </a:solidFill>
              </a:rPr>
              <a:t>HISTORIA CLÍNICA INSTITUCIONAL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4BBCE-2157-4CC0-BF5F-F5197D1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Dropdown conectado a la base clínica institucional. No se cargan archivos externos desde la interfaz.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52C6B-BE24-4029-BEAB-87049A03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95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35F"/>
                </a:solidFill>
              </a:defRPr>
            </a:pPr>
            <a:r>
              <a:rPr sz="1500" b="1">
                <a:solidFill>
                  <a:srgbClr val="F2635F"/>
                </a:solidFill>
              </a:rPr>
              <a:t>PERFIL ONCÓLOGO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7E615-3BCA-4809-B732-0C288F4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908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Datos clínicos</a:t>
            </a:r>
          </a:p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Urgencia y derivación visuales</a:t>
            </a:r>
          </a:p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Resumen · hipótesis · chat grounded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BD257-8901-4F20-B971-62ADCEEB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95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6EA4"/>
                </a:solidFill>
              </a:defRPr>
            </a:pPr>
            <a:r>
              <a:rPr sz="1500" b="1">
                <a:solidFill>
                  <a:srgbClr val="1C6EA4"/>
                </a:solidFill>
              </a:rPr>
              <a:t>PERFIL RADIÓLOGO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61928-683A-4F6E-9CB6-14FA4B18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Datos clínicos</a:t>
            </a:r>
          </a:p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Región y zonas de interés</a:t>
            </a:r>
          </a:p>
          <a:p xmlns:a="http://schemas.openxmlformats.org/drawingml/2006/main">
            <a:pPr algn="ctr">
              <a:defRPr sz="1275" b="0">
                <a:solidFill>
                  <a:srgbClr val="17324D"/>
                </a:solidFill>
              </a:defRPr>
            </a:pPr>
            <a:r>
              <a:rPr sz="1275" b="0">
                <a:solidFill>
                  <a:srgbClr val="17324D"/>
                </a:solidFill>
              </a:rPr>
              <a:t>Qué ver, qué no ver y referencia visual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33750" y="3524250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524250"/>
            <a:ext cx="451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6A6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C3A9D-8E5D-4277-B7CA-B68D75E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53075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Chat Gemini: responde exclusivamente con el output estructurado de C1; no emite diagnósticos independientes.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3B7A4-3052-4B2C-B67C-FBC2758A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C2566-BD1B-4C12-B18D-7BA08777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25487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8DA5-A1C6-4CB4-A709-70998C6D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A6"/>
                </a:solidFill>
              </a:defRPr>
            </a:pPr>
            <a:r>
              <a:rPr sz="975" b="1">
                <a:solidFill>
                  <a:srgbClr val="00A6A6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ED56D-5B83-4D84-9655-916505AD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OncoBridge AI hace visible el puente entre decisión clínica y estudio por imágenes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465D-8411-4C8F-9F23-E34552B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Es un prototipo académico: su valor está en la trazabilidad, la separación de roles y la base para futuras validaciones.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FC6AD-CFBC-4EFF-ACFD-308C583F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35F"/>
          </a:solidFill>
          <a:ln xmlns:a="http://schemas.openxmlformats.org/drawingml/2006/main" w="0">
            <a:solidFill>
              <a:srgbClr val="F263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95E46-3B53-45AD-B209-94792282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35F"/>
                </a:solidFill>
              </a:defRPr>
            </a:pPr>
            <a:r>
              <a:rPr sz="2250" b="1">
                <a:solidFill>
                  <a:srgbClr val="F2635F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46ABE-5EDD-4C0A-8D1C-EFA36BD2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Ground Truth consultados por el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B41DF-B1EA-415D-9374-63107036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6A6"/>
                </a:solidFill>
              </a:defRPr>
            </a:pPr>
            <a:r>
              <a:rPr sz="2250" b="1">
                <a:solidFill>
                  <a:srgbClr val="00A6A6"/>
                </a:solidFill>
              </a:rP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3729-5737-4909-A37A-A695BB05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Historias clínicas sintéticas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5BED6-464F-4869-BC30-6E0A52E5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B5D"/>
                </a:solidFill>
              </a:defRPr>
            </a:pPr>
            <a:r>
              <a:rPr sz="2250" b="1">
                <a:solidFill>
                  <a:srgbClr val="123B5D"/>
                </a:solidFill>
              </a:rPr>
              <a:t>77 / 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32CD2-EB73-4632-B2A1-98777BCF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Train / test reproducible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D0F56-0212-4B71-BDE2-1ECAD38D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8A6E"/>
                </a:solidFill>
              </a:defRPr>
            </a:pPr>
            <a:r>
              <a:rPr sz="2250" b="1">
                <a:solidFill>
                  <a:srgbClr val="2B8A6E"/>
                </a:solidFill>
              </a:rPr>
              <a:t>83,33%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899FF-59D1-4964-8EDF-48C8A06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Sensibilidad en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21335-CD3B-4786-81A0-1701EDF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0096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D361A-9BB8-40DB-B756-A7540CE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Aporte central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42EBE-E803-4565-A3D7-CCA5ECE4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19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Una decisión explicable para el oncólogo y una guía visual prospectiva para el radiólogo, unidas en un único flujo end-to-end.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36039-2DAD-48A7-8137-746236F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Próximo paso: validación externa con datos reales anonimizados y un modelo específico para detección o segmentación de imágenes médicas.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7B25D-F2F0-4497-8FC2-4B842055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OncoBridge AI · TP Final · IA Generativa para Datos Biomédicos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37E5C-6A56-4F30-B655-CB1ED1C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829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6F1A7-F956-4556-B61F-F39C4B8D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A6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D5016-B928-4FAA-8D73-B8284EB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8803D-CC3C-4A0C-A068-A17FDF85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E1E1"/>
                </a:solidFill>
              </a:defRPr>
            </a:pPr>
            <a:r>
              <a:rPr sz="2250" b="1">
                <a:solidFill>
                  <a:srgbClr val="A7E1E1"/>
                </a:solidFill>
              </a:rPr>
              <a:t>OncoBridge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80F51-A2B1-43C7-9B98-3F0F099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8F4"/>
                </a:solidFill>
              </a:defRPr>
            </a:pPr>
            <a:r>
              <a:rPr sz="1650" b="0">
                <a:solidFill>
                  <a:srgbClr val="D7E8F4"/>
                </a:solidFill>
              </a:rPr>
              <a:t>Apoyo explicable para conectar la historia clínica, la decisión oncológica y la guía radiológica.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A2CC2-D8C9-4585-AC41-1D2D7E1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04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B4B6D"/>
          </a:solidFill>
          <a:ln xmlns:a="http://schemas.openxmlformats.org/drawingml/2006/main" w="9525">
            <a:solidFill>
              <a:srgbClr val="2F66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BA024-E988-4248-8752-25A37B1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35F"/>
                </a:solidFill>
              </a:defRPr>
            </a:pPr>
            <a:r>
              <a:rPr sz="2025" b="1">
                <a:solidFill>
                  <a:srgbClr val="F2635F"/>
                </a:solidFill>
              </a:rPr>
              <a:t>ONCO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67DDB-1658-41CC-9D62-E88DFF55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43696-4436-4A19-BB79-B0ACF795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38350"/>
            <a:ext cx="400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A6A6"/>
                </a:solidFill>
              </a:defRPr>
            </a:pPr>
            <a:r>
              <a:rPr sz="2025" b="1">
                <a:solidFill>
                  <a:srgbClr val="00A6A6"/>
                </a:solidFill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68531-60FE-4FF8-BEB0-6915EB5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8F4"/>
                </a:solidFill>
              </a:defRPr>
            </a:pPr>
            <a:r>
              <a:rPr sz="1500" b="0">
                <a:solidFill>
                  <a:srgbClr val="D7E8F4"/>
                </a:solidFill>
              </a:rPr>
              <a:t>Matías Mogetta</a:t>
            </a:r>
          </a:p>
          <a:p xmlns:a="http://schemas.openxmlformats.org/drawingml/2006/main">
            <a:pPr algn="l">
              <a:defRPr sz="1500" b="0">
                <a:solidFill>
                  <a:srgbClr val="D7E8F4"/>
                </a:solidFill>
              </a:defRPr>
            </a:pPr>
            <a:r>
              <a:rPr sz="1500" b="0">
                <a:solidFill>
                  <a:srgbClr val="D7E8F4"/>
                </a:solidFill>
              </a:rPr>
              <a:t>Bianca Nader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706F1-4690-4CC1-B365-2BA8EE2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</a:defRPr>
            </a:pPr>
            <a:r>
              <a:rPr sz="1950" b="1">
                <a:solidFill>
                  <a:srgbClr val="00A6A6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1239764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2026-08-27T23:46:58.5970000Z</dcterms:created>
  <dcterms:modified xsi:type="dcterms:W3CDTF">2026-08-27T23:46:58.5970000Z</dcterms:modified>
</coreProperties>
</file>